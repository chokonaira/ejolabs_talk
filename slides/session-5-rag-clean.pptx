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16c2eaa65b4dc1" /><Relationship Type="http://schemas.openxmlformats.org/officeDocument/2006/relationships/extended-properties" Target="/docProps/app.xml" Id="R977416d9422446de" /><Relationship Type="http://schemas.openxmlformats.org/officeDocument/2006/relationships/officeDocument" Target="/ppt/presentation.xml" Id="Rd4a433cf24154e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631e69498b4a62"/>
  </p:sldMasterIdLst>
  <p:notesMasterIdLst>
    <p:notesMasterId xmlns:r="http://schemas.openxmlformats.org/officeDocument/2006/relationships" r:id="R6410061be59a45c3"/>
  </p:notesMasterIdLst>
  <p:sldIdLst>
    <p:sldId xmlns:r="http://schemas.openxmlformats.org/officeDocument/2006/relationships" id="256" r:id="Rf7eea3f9390e4fcf"/>
    <p:sldId xmlns:r="http://schemas.openxmlformats.org/officeDocument/2006/relationships" id="257" r:id="Re5156f6e3dc34179"/>
    <p:sldId xmlns:r="http://schemas.openxmlformats.org/officeDocument/2006/relationships" id="258" r:id="R8588a980e52649e0"/>
    <p:sldId xmlns:r="http://schemas.openxmlformats.org/officeDocument/2006/relationships" id="259" r:id="R9a3d65bbb3544b7d"/>
    <p:sldId xmlns:r="http://schemas.openxmlformats.org/officeDocument/2006/relationships" id="260" r:id="R555790d9e380433d"/>
    <p:sldId xmlns:r="http://schemas.openxmlformats.org/officeDocument/2006/relationships" id="261" r:id="R1c07383cc8674932"/>
    <p:sldId xmlns:r="http://schemas.openxmlformats.org/officeDocument/2006/relationships" id="262" r:id="R01c8c82e3441421e"/>
    <p:sldId xmlns:r="http://schemas.openxmlformats.org/officeDocument/2006/relationships" id="263" r:id="R4d5e00da411a46f6"/>
    <p:sldId xmlns:r="http://schemas.openxmlformats.org/officeDocument/2006/relationships" id="264" r:id="Rec513fd4ace54282"/>
    <p:sldId xmlns:r="http://schemas.openxmlformats.org/officeDocument/2006/relationships" id="265" r:id="R230b2b62acb14ce0"/>
    <p:sldId xmlns:r="http://schemas.openxmlformats.org/officeDocument/2006/relationships" id="266" r:id="Rf22fbab812aa437a"/>
    <p:sldId xmlns:r="http://schemas.openxmlformats.org/officeDocument/2006/relationships" id="267" r:id="Rc2ebec5cf356414e"/>
    <p:sldId xmlns:r="http://schemas.openxmlformats.org/officeDocument/2006/relationships" id="268" r:id="R925218e7e5e54f42"/>
    <p:sldId xmlns:r="http://schemas.openxmlformats.org/officeDocument/2006/relationships" id="269" r:id="R5cc03166838043c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3dcd7691da4b59" /><Relationship Type="http://schemas.openxmlformats.org/officeDocument/2006/relationships/slideMaster" Target="/ppt/slideMasters/slideMaster1.xml" Id="Rf4631e69498b4a62" /><Relationship Type="http://schemas.openxmlformats.org/officeDocument/2006/relationships/notesMaster" Target="/ppt/notesMasters/notesMaster1.xml" Id="R6410061be59a45c3" /><Relationship Type="http://schemas.openxmlformats.org/officeDocument/2006/relationships/presProps" Target="/ppt/presProps.xml" Id="R75d7cdd3b25f40f5" /><Relationship Type="http://schemas.openxmlformats.org/officeDocument/2006/relationships/tableStyles" Target="/ppt/tableStyles.xml" Id="Rca36505db6eb45e6" /><Relationship Type="http://schemas.openxmlformats.org/officeDocument/2006/relationships/slide" Target="/ppt/slides/slide1.xml" Id="Rf7eea3f9390e4fcf" /><Relationship Type="http://schemas.openxmlformats.org/officeDocument/2006/relationships/slide" Target="/ppt/slides/slide2.xml" Id="Re5156f6e3dc34179" /><Relationship Type="http://schemas.openxmlformats.org/officeDocument/2006/relationships/slide" Target="/ppt/slides/slide3.xml" Id="R8588a980e52649e0" /><Relationship Type="http://schemas.openxmlformats.org/officeDocument/2006/relationships/slide" Target="/ppt/slides/slide4.xml" Id="R9a3d65bbb3544b7d" /><Relationship Type="http://schemas.openxmlformats.org/officeDocument/2006/relationships/slide" Target="/ppt/slides/slide5.xml" Id="R555790d9e380433d" /><Relationship Type="http://schemas.openxmlformats.org/officeDocument/2006/relationships/slide" Target="/ppt/slides/slide6.xml" Id="R1c07383cc8674932" /><Relationship Type="http://schemas.openxmlformats.org/officeDocument/2006/relationships/slide" Target="/ppt/slides/slide7.xml" Id="R01c8c82e3441421e" /><Relationship Type="http://schemas.openxmlformats.org/officeDocument/2006/relationships/slide" Target="/ppt/slides/slide8.xml" Id="R4d5e00da411a46f6" /><Relationship Type="http://schemas.openxmlformats.org/officeDocument/2006/relationships/slide" Target="/ppt/slides/slide9.xml" Id="Rec513fd4ace54282" /><Relationship Type="http://schemas.openxmlformats.org/officeDocument/2006/relationships/slide" Target="/ppt/slides/slide10.xml" Id="R230b2b62acb14ce0" /><Relationship Type="http://schemas.openxmlformats.org/officeDocument/2006/relationships/slide" Target="/ppt/slides/slide11.xml" Id="Rf22fbab812aa437a" /><Relationship Type="http://schemas.openxmlformats.org/officeDocument/2006/relationships/slide" Target="/ppt/slides/slide12.xml" Id="Rc2ebec5cf356414e" /><Relationship Type="http://schemas.openxmlformats.org/officeDocument/2006/relationships/slide" Target="/ppt/slides/slide13.xml" Id="R925218e7e5e54f42" /><Relationship Type="http://schemas.openxmlformats.org/officeDocument/2006/relationships/slide" Target="/ppt/slides/slide14.xml" Id="R5cc03166838043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0bd4b200304d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8717235f69428f" /><Relationship Type="http://schemas.openxmlformats.org/officeDocument/2006/relationships/notesMaster" Target="/ppt/notesMasters/notesMaster1.xml" Id="Rcb442da60b2748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4ff34188494249" /><Relationship Type="http://schemas.openxmlformats.org/officeDocument/2006/relationships/notesMaster" Target="/ppt/notesMasters/notesMaster1.xml" Id="R3196459e6f9c48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54ca35becd4595" /><Relationship Type="http://schemas.openxmlformats.org/officeDocument/2006/relationships/notesMaster" Target="/ppt/notesMasters/notesMaster1.xml" Id="Rfebeadd41cf845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db2422e1d34cfd" /><Relationship Type="http://schemas.openxmlformats.org/officeDocument/2006/relationships/notesMaster" Target="/ppt/notesMasters/notesMaster1.xml" Id="Rbe5b8b5b9b49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caa927a6354332" /><Relationship Type="http://schemas.openxmlformats.org/officeDocument/2006/relationships/notesMaster" Target="/ppt/notesMasters/notesMaster1.xml" Id="R40daa6718da541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735cfdae64b05" /><Relationship Type="http://schemas.openxmlformats.org/officeDocument/2006/relationships/notesMaster" Target="/ppt/notesMasters/notesMaster1.xml" Id="Rc61aa328e80043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e9e7d7cd9f4466" /><Relationship Type="http://schemas.openxmlformats.org/officeDocument/2006/relationships/notesMaster" Target="/ppt/notesMasters/notesMaster1.xml" Id="R4228a66a400045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3efd048494751" /><Relationship Type="http://schemas.openxmlformats.org/officeDocument/2006/relationships/notesMaster" Target="/ppt/notesMasters/notesMaster1.xml" Id="Rcd961485d21644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bbd6d89b774893" /><Relationship Type="http://schemas.openxmlformats.org/officeDocument/2006/relationships/notesMaster" Target="/ppt/notesMasters/notesMaster1.xml" Id="R9fdef52c154047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68ec2b8dc94586" /><Relationship Type="http://schemas.openxmlformats.org/officeDocument/2006/relationships/notesMaster" Target="/ppt/notesMasters/notesMaster1.xml" Id="Rfd451226037149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ac5f3d971f45c5" /><Relationship Type="http://schemas.openxmlformats.org/officeDocument/2006/relationships/notesMaster" Target="/ppt/notesMasters/notesMaster1.xml" Id="Rb9916faecc9f4f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87d6f8035141a9" /><Relationship Type="http://schemas.openxmlformats.org/officeDocument/2006/relationships/notesMaster" Target="/ppt/notesMasters/notesMaster1.xml" Id="R15b3a4b4682747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2a5e454a074999" /><Relationship Type="http://schemas.openxmlformats.org/officeDocument/2006/relationships/notesMaster" Target="/ppt/notesMasters/notesMaster1.xml" Id="Rc9773605155045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33f9f0ba1e4913" /><Relationship Type="http://schemas.openxmlformats.org/officeDocument/2006/relationships/notesMaster" Target="/ppt/notesMasters/notesMaster1.xml" Id="Rf50fa34cec39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yourself briefly. Tell students this is a practical session, not theory. They should leave knowing what data to send to an LLM and how to test a simple RAG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simple. The model is not magic memory. The app decides what to send. That decision is AI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intuition. Same question. Same kind of model. The only difference is the trusted text added to the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each part of the request: URL, method, headers, API key, body. Make it clear the key on screen is fake.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before and after. Plain text is readable, but the UI has to guess. JSON fields let the frontend render confidence, source, and next action without parsing a paragraph.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one finishes first before running the script. The answer is neither; time to first token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upload idea concrete: upload means read text; ingestion means prepare text for retrieval.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numbers as the visual. Students do not need vector math; they need the intuition of closeness.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vector DB is storage plus search. It is not the LLM. For capstones, an in-memory store is enough to learn.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resolves the upload confusion. The app reads the file locally, splits/searches it, and sends text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practical comparison students should remember for their capstone.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oversell RAG. The skill is knowing which stage failed: documents, chunking, retrieval, prompt, or 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turns the session into an action plan. Keep it practical and beginner friendly.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showing the exact commands. This also helps you rehearse without thinking about file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c2d3793ba4c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3a350ce06436a" /><Relationship Type="http://schemas.openxmlformats.org/officeDocument/2006/relationships/slideLayout" Target="/ppt/slideLayouts/slideLayout1.xml" Id="R9a4c876b886246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4c876b886246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c490c2d794870" /><Relationship Type="http://schemas.openxmlformats.org/officeDocument/2006/relationships/image" Target="/ppt/media/image.jpeg" Id="Ra5ce520416de4779" /><Relationship Type="http://schemas.openxmlformats.org/officeDocument/2006/relationships/notesSlide" Target="/ppt/notesSlides/notesSlide1.xml" Id="R21ffece735f1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c608b21434ad7" /><Relationship Type="http://schemas.openxmlformats.org/officeDocument/2006/relationships/notesSlide" Target="/ppt/notesSlides/notesSlide2.xml" Id="R298d7afef0b846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e06b521464ce7" /><Relationship Type="http://schemas.openxmlformats.org/officeDocument/2006/relationships/notesSlide" Target="/ppt/notesSlides/notesSlide3.xml" Id="R50c2f801416f42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5123139dd4872" /><Relationship Type="http://schemas.openxmlformats.org/officeDocument/2006/relationships/notesSlide" Target="/ppt/notesSlides/notesSlide4.xml" Id="R851f049c800549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e14965d3a42d8" /><Relationship Type="http://schemas.openxmlformats.org/officeDocument/2006/relationships/notesSlide" Target="/ppt/notesSlides/notesSlide5.xml" Id="Rf87b1c29c48f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d8f8f00d143cb" /><Relationship Type="http://schemas.openxmlformats.org/officeDocument/2006/relationships/notesSlide" Target="/ppt/notesSlides/notesSlide6.xml" Id="Redef5c4d3a7743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30b1d01534002" /><Relationship Type="http://schemas.openxmlformats.org/officeDocument/2006/relationships/notesSlide" Target="/ppt/notesSlides/notesSlide7.xml" Id="R38c835c9d4cf40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39e6fd36c46ba" /><Relationship Type="http://schemas.openxmlformats.org/officeDocument/2006/relationships/notesSlide" Target="/ppt/notesSlides/notesSlide8.xml" Id="R89a10323bdd14f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07bfae2c84a9b" /><Relationship Type="http://schemas.openxmlformats.org/officeDocument/2006/relationships/notesSlide" Target="/ppt/notesSlides/notesSlide9.xml" Id="R71f122a8f2dd47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46762cb8a4b20" /><Relationship Type="http://schemas.openxmlformats.org/officeDocument/2006/relationships/notesSlide" Target="/ppt/notesSlides/notesSlide10.xml" Id="Rae93d6d7cdc74d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0e254eae5454c" /><Relationship Type="http://schemas.openxmlformats.org/officeDocument/2006/relationships/notesSlide" Target="/ppt/notesSlides/notesSlide11.xml" Id="Rc02f47055d9c42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6adc876c342d3" /><Relationship Type="http://schemas.openxmlformats.org/officeDocument/2006/relationships/notesSlide" Target="/ppt/notesSlides/notesSlide12.xml" Id="Re1f57f7165a34a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502bfdd924517" /><Relationship Type="http://schemas.openxmlformats.org/officeDocument/2006/relationships/notesSlide" Target="/ppt/notesSlides/notesSlide13.xml" Id="R6b9752401cee41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79b79c1f04a00" /><Relationship Type="http://schemas.openxmlformats.org/officeDocument/2006/relationships/notesSlide" Target="/ppt/notesSlides/notesSlide14.xml" Id="R4089f61d61a74d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D4FD-6763-4FE4-BCBC-A54757CD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A31C-ADD0-4D49-9483-E65E776A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1/14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CEB58-AD4F-4734-827D-42E7C53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e520416de4779"/>
          <a:srcRect xmlns:a="http://schemas.openxmlformats.org/drawingml/2006/main" l="0" t="2095" r="0" b="2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1257300"/>
            <a:ext cx="1600200" cy="1600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2544F-F0E3-46DF-953E-A5779FCC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257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Session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08AF1-B5FF-4C17-9DD3-029BC8A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57350"/>
            <a:ext cx="857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Integration,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Structured Output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and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FCD68-C6B9-4B9A-B8FB-4016529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577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1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Henry Okonkwo  |  Senior Frontend Engineer, Berlin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65688-D1F5-481A-8846-BDBDB01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14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0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B5A3C"/>
                </a:solidFill>
                <a:latin typeface="Aptos"/>
                <a:ea typeface="Aptos"/>
                <a:cs typeface="Aptos"/>
              </a:rPr>
              <a:t>ejolabs.com/en  |  linkedin.com/in/chokonaira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C8DDA-4E91-4B86-88D0-6F9BC98F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1980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A3C54-7A55-45D2-9587-D25E30DA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5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Goal for the hour: understand enough to build a capstone assistant that answers from your own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B909E-4005-471B-9775-AB22E480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1301F-CD09-438D-8729-DE2850C1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Open the deck: open /Users/henryokonkwo/Desktop/ejo-session-5/slides/session-5-rag-clean.pptx</a:t>
            </a:r>
          </a:p>
        </p:txBody>
      </p:sp>
    </p:spTree>
    <p:extLst>
      <p:ext uri="{BB962C8B-B14F-4D97-AF65-F5344CB8AC3E}">
        <p14:creationId xmlns:p14="http://schemas.microsoft.com/office/powerpoint/2010/main" val="364585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35A45-AD43-4C8C-896D-6BED847C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18EF1-0207-4C27-BF60-60E496A6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2/14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AD6A0-7B2D-419F-9012-063A4A10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FB625-47BA-465E-8AC1-261A51E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6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What is an LLM?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029E8-0DCE-411A-BC21-A2C0419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A language model predicts useful text from the words you send it. It does not automatically know your private files, your database, or your latest course notes.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C2CEF-C8CF-4A1B-AD37-F3A5951D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81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6A58B-AD96-4885-81A2-6DFB0770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291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Input: instructions, question, and optional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54F8E-78A3-4201-B97A-F4BBD353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29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208C4-6C40-46FA-A7B0-5E20AC28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768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Output: text, JSON, or streamed tokens.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9EB8E-7D8E-46B8-9859-3AD0719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76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EE3B-A384-4983-88A8-04A944BA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1245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Risk: if the answer is missing, it may still sound confident.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27D35-80DF-4F36-9632-139C8A15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8B6F2-8430-44D5-A345-B16C323D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 later: python3 run_lesson.py 1</a:t>
            </a:r>
          </a:p>
        </p:txBody>
      </p:sp>
    </p:spTree>
    <p:extLst>
      <p:ext uri="{BB962C8B-B14F-4D97-AF65-F5344CB8AC3E}">
        <p14:creationId xmlns:p14="http://schemas.microsoft.com/office/powerpoint/2010/main" val="935611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5A31F-4FFB-41BB-BFCB-8B4A3A1E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A513A-C3B0-448E-8D88-B059E16A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3/14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9687B-2EC4-4257-93ED-ADE2B009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A84EA-EEE7-4DAA-A0E7-B34885D9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811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8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Context changes the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93B46-ED6F-40AA-9B54-176B48A8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WITHOUT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7950E-DE63-4730-9261-5805BC92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5810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Question: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What number do I call at the weekend?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Model answer: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0788 300 200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Problem: invented.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7F457-1A55-45C3-A7F5-1ABCB3C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WITH A COURSE NOTE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C36E9-A7E2-4400-A5FB-4A63EDB1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5810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Trusted note: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Weekend emergency number: 0788 123 456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Model answer: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0788 123 456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0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Why: the fact was in the prompt.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81742-CCE8-4D2A-B01C-F45440CD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B7235-DBFA-4F6A-B73A-88E350B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1  then  python3 run_lesson.py 2</a:t>
            </a:r>
          </a:p>
        </p:txBody>
      </p:sp>
    </p:spTree>
    <p:extLst>
      <p:ext uri="{BB962C8B-B14F-4D97-AF65-F5344CB8AC3E}">
        <p14:creationId xmlns:p14="http://schemas.microsoft.com/office/powerpoint/2010/main" val="1557060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EEDD-258F-4C2C-BE20-64D8018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6A6A9-82C0-44B1-A957-80E0988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4/14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BE554-6598-498C-A7AE-E17ED2A5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CED5D-6EA3-4A51-B9E2-8BAA143F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192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8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Calling an LLM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FB439-C823-4796-A55F-9BA8B7D2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An API call is just an HTTP request. Your code sends JSON to a model provider and receives JSON 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8A60F-4C5F-44D9-A715-0BE48F59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9525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9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await fetch("/api/ask", {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method: "POST",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headers: {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"Content-Type": "application/json",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"Authorization": "Bearer demo_key_for_class_only"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body: JSON.stringify({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question: "What is RAG?",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context: "RAG finds relevant notes first."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})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});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9010F-38CD-4081-83BB-D0C412B5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8577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real API key belongs on your backend server, not inside browser JavaScript.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5DE41-2334-4535-A9DD-9736BDBC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9E563-E221-4E71-B357-C11AA868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Teaching point: endpoint + method + headers + body + response</a:t>
            </a:r>
          </a:p>
        </p:txBody>
      </p:sp>
    </p:spTree>
    <p:extLst>
      <p:ext uri="{BB962C8B-B14F-4D97-AF65-F5344CB8AC3E}">
        <p14:creationId xmlns:p14="http://schemas.microsoft.com/office/powerpoint/2010/main" val="63700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9FB3D-F02D-4340-AB29-4748837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49637-3853-4F3F-A237-8785631A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5/14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3A194-CC29-4CC7-9A50-C80CC51B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F7049-C346-4546-9494-774208A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811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9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Structured output makes an answer usable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55AFA-0AB0-4452-BC50-E31FA19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1123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The model can still explain in normal language. The difference is that we ask it to return named fields the app can validate and display.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CE546-B096-45BC-A2F6-3578D80A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PLAIN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459E3-3254-49D0-B0F3-8394EE1B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571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Call 0788 123 456 for weekend emergencies.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 person can understand this.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But the app still has to guess: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 confidence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 source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 next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82BF-A692-45E4-9FB1-87DD5994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00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STRUCTURED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5182C-9973-4349-BFD3-13CE6A8D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5962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9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"answer": "Call 0788 123 456.",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"confidence": "high",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"source": "kanombe-clinic.md",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"nextAction": "Show call button"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F2B13-AD39-4710-BD88-7A198D59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6755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Simple rule: ask for a schema, validate it, then render the UI from those fields.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3800E-B915-489F-BC3C-D9427E8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65D54-4701-45D4-8A3C-C0B4CD94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structured</a:t>
            </a:r>
          </a:p>
        </p:txBody>
      </p:sp>
    </p:spTree>
    <p:extLst>
      <p:ext uri="{BB962C8B-B14F-4D97-AF65-F5344CB8AC3E}">
        <p14:creationId xmlns:p14="http://schemas.microsoft.com/office/powerpoint/2010/main" val="1367000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32108-A2CF-4EEB-91E2-0E559259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0475F-B432-4A3E-9392-3B4FD4B1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6/14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3C899-FB3C-4380-92FE-02DAF069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39173-1AF2-4157-A88E-B58C9DD0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954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6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Streaming shows 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0C481-47FF-4700-9AC9-5C0558D1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Streaming does not make the model think faster. It sends small pieces as they are produced, so the user sees movement instead of a blank screen.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72D4F-7CD0-4C27-8FEA-5870469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CE2CC-B02A-4E2F-B5F7-FE9881C3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blocking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149AF-3D87-4C92-9656-5C91FE8D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530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wait... wait... wait... full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7F302-EB18-46C5-A292-E94401B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53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streaming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BF236-8B36-4E52-87C3-A8763FBA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1531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1  |  token 2  |  token 3  |  done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4BACB-0885-450A-9A23-FFDA7511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62653-9225-4810-B723-5AD1C77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streaming</a:t>
            </a:r>
          </a:p>
        </p:txBody>
      </p:sp>
    </p:spTree>
    <p:extLst>
      <p:ext uri="{BB962C8B-B14F-4D97-AF65-F5344CB8AC3E}">
        <p14:creationId xmlns:p14="http://schemas.microsoft.com/office/powerpoint/2010/main" val="1206220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3C7C9-F13D-4B19-BF0E-6F601CFA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B1DD5-722F-4D9B-B3CB-A8858A50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7/14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6B318-230A-4886-9223-7332AC20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31B2F-927B-48B9-9C78-6422748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620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Documents must be split before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AE1C1-EFEA-47CC-A787-BDFAF795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RAG does not send the whole document every time. The app reads the document, cleans it, splits it into chunks, then searches the chunks.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43252-EDC8-4499-9427-53BAF6D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181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4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load file  -&gt;  clean text  -&gt;  split chunks  -&gt;  embed chunks  -&gt;  retrieve closest chunks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44171-D2ED-4CA7-8BD1-3543AD6B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WHY OVERLAP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3CC15-7DB9-4E08-AAA1-4987A87A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8572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9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bad split: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chunk 1 ends: "...public holiday, c"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chunk 2 starts: "all the emergency number..."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overlap keeps the full fact in one chunk.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50D72-25FD-4F82-87B8-ECE471F8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9059D-CAF8-4557-82EB-74F9677F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chunking</a:t>
            </a:r>
          </a:p>
        </p:txBody>
      </p:sp>
    </p:spTree>
    <p:extLst>
      <p:ext uri="{BB962C8B-B14F-4D97-AF65-F5344CB8AC3E}">
        <p14:creationId xmlns:p14="http://schemas.microsoft.com/office/powerpoint/2010/main" val="572408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A7DDA-6997-4079-AD97-06BB55ED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BFA10-D924-43E8-966A-66AA4CE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8/14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7992E-9F9D-4113-975B-ECA798F8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C7DCB-CD79-41D8-8B95-6D9B75E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620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4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Embeddings turn text into numbers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40F3D-460C-4373-9D0F-BECDD82A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An embedding is a list of numbers that lets the computer compare meaning by distance. It is not a summary, and you cannot turn it back into the sentence.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940AE-E9FE-475D-8647-1CDA864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7524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9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"weekend emergency number"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-&gt; [0.31, -0.12, 0.08, 0.44, 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"Saturday clinic phone"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-&gt; [0.29, -0.10, 0.06, 0.41, ...]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Closer numbers = more likely to be related.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78B26-D280-4DBE-840E-4FA756CD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14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40CE3-18D9-41A7-9306-B961D2B9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624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1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number: point on a 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828DC-45A2-4AF7-B2FF-B78F1F4E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57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3C546-B854-4701-B32A-9CB7333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054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1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 numbers: point on a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9A6D0-18DC-4B25-AFB9-62CD9401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200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5621E-696C-406C-830C-587383F1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0483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1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384 numbers: space we cannot draw, but can still compare.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4BEAA-A6A1-4505-AD0A-1013C13B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ADD81-92D5-4221-942A-485FA756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embeddings</a:t>
            </a:r>
          </a:p>
        </p:txBody>
      </p:sp>
    </p:spTree>
    <p:extLst>
      <p:ext uri="{BB962C8B-B14F-4D97-AF65-F5344CB8AC3E}">
        <p14:creationId xmlns:p14="http://schemas.microsoft.com/office/powerpoint/2010/main" val="2021380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D1035-C48F-461B-BBB2-6876F9B5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2ADB1-B250-4FB6-B742-F4926E2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9/14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D818C-D002-458D-AEF9-4FF9E995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10F6E-DDA0-43C7-8204-130D7463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430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Vector database = searchable memory for chunks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794B5-C7B2-477A-A8BD-034001A9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A vector DB stores each chunk with its embedding, then returns the closest chunks for a new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075AD-3BE0-479B-88DF-062FFB8D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8477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9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chunks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id | source file        | text chunk              | embedding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1  | clinic.md          | emergency number...     | [0.31, ...]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2  | fees.md            | consultation fees...    | [0.08, ...]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3  | services.md        | vaccines available...   | [0.19, ...]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51657-2DCA-46DF-9AC1-87372DC0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43400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Beginner version: this repo simulates the DB in memory. Production version: Postgres + pgvector, Chroma, Qdrant, Weaviate, or Pinecone.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CAA0B-09FB-4A82-9B5F-CADBC03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0EB7F-5374-4B76-BF11-7C15B439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retrieval  or  python3 run_lesson.py vector</a:t>
            </a:r>
          </a:p>
        </p:txBody>
      </p:sp>
    </p:spTree>
    <p:extLst>
      <p:ext uri="{BB962C8B-B14F-4D97-AF65-F5344CB8AC3E}">
        <p14:creationId xmlns:p14="http://schemas.microsoft.com/office/powerpoint/2010/main" val="1223274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168F1-60DE-4A57-850B-F99A7BE5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5E02C-F191-4FE3-B61C-269505FE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10/14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934CA-15FF-415D-84A4-0008714F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798A4-EE51-41E0-9838-2BCE6412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192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6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RAG in one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7CA03-8017-41A9-858D-AD79FC40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RAG means: find the relevant document pieces, paste those pieces into the prompt, then ask the model to answer from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5BE55-1E31-4A80-BE4A-832D8A36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B8438-C49C-4BCE-A206-C9BAC7D8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577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Student asks a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CBDA7-C549-477A-B3E0-1F8FADCA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80923-5BF1-4BD7-BC6A-76AD24F0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435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App searches the uploaded notes.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F4F98-0172-49C4-9CB0-E583F90A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FB8E5-D88D-4952-A6AE-98C6ADFB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293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App sends only the best chunks to the LLM.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1F4F0-E1DA-4745-8208-D4276DA8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C3151-D82C-42C6-8CF5-31D62FC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7151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answers with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FEF7D-D61F-442A-89BA-630FB48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530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The LLM is not reading your folder by itself. Your app reads the file and places the useful parts inside the request.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19FC0-B537-42A6-8FBC-B75CCA8E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C8938-F891-447C-8625-7B4E6B38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rag</a:t>
            </a:r>
          </a:p>
        </p:txBody>
      </p:sp>
    </p:spTree>
    <p:extLst>
      <p:ext uri="{BB962C8B-B14F-4D97-AF65-F5344CB8AC3E}">
        <p14:creationId xmlns:p14="http://schemas.microsoft.com/office/powerpoint/2010/main" val="1488522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7CCA6-59B3-4AD2-BFCE-5E4AA1F9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622BC-E0A9-4B7A-B0DC-7080E798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11/14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9BEAD-4C6F-4414-B49D-979EA226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3B7E0-ED25-47FE-857E-45A8CB5F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430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4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Test the same question two 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1310A-A805-445B-BF1A-84D6FEA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A good demo shows the difference between a generic model answer and a grounded answer from the document.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A6C8C-8327-48A6-89E4-8DB1909D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NO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91A41-33A3-4C32-BF56-9BACC3B3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5857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Question: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What number should a student call at the weekend?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Answer: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I would recommend checking the official contact page...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B82AC-9ABF-4F32-AB21-1F4CEA03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WITH DOCUMENT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775D2-5DCD-49FD-9B8A-6AD2B2C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5857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Retrieved chunk: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Weekend emergency number: 0788 123 456.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Answer: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7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Call 0788 123 456. Source: clinic.md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2E34E-3359-4D17-9E6A-3A3726EE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DBB3A-D3B7-4E56-8F59-66BC1301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 live: python3 run_lesson.py 1  then  python3 run_lesson.py rag</a:t>
            </a:r>
          </a:p>
        </p:txBody>
      </p:sp>
    </p:spTree>
    <p:extLst>
      <p:ext uri="{BB962C8B-B14F-4D97-AF65-F5344CB8AC3E}">
        <p14:creationId xmlns:p14="http://schemas.microsoft.com/office/powerpoint/2010/main" val="12192140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E0101-FDBA-4763-87BC-5D2DE709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F9B46-5F0C-48CC-8DC2-C4708E56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12/14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69CAA-8102-462B-B391-2566F16C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BEE89-6B3B-4549-8FF1-344B3A6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6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When RAG is still wrong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2DBEA-7AA5-48D7-AEC6-8069A571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RAG reduces guessing, but it does not remove engineering work. You still debug the pipeline.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3D172-5B60-4B0E-82EB-8535A9EB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1DB9E-5F4A-4A54-AAED-9160315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6247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Wrong chunk retrieved: the model answers from the wrong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E0B26-3E85-4E50-9417-3E75E9AD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43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AB229-6CA6-473D-BBBE-3F2C1D44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9112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Answer not in the documents: it must be allowed to say 'I do not know'.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C4CD1-6932-4DC2-ADA6-1128111B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C2E0B-6A91-447B-A26D-7A8A666C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977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Documents are stale: the model confidently repeats old facts.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8009B-8E81-414B-BF70-6B5E9404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00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3C"/>
          </a:solidFill>
          <a:ln xmlns:a="http://schemas.openxmlformats.org/drawingml/2006/main" w="9525">
            <a:solidFill>
              <a:srgbClr val="0B5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9ECC3-AF36-4748-AEDF-683033D4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4842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Model ignores the context: show sources so users can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E4EBA-ACC8-4C0A-9EDE-610C048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541BC-C845-4F5D-96C4-53B66A81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Run: python3 run_lesson.py evaluate</a:t>
            </a:r>
          </a:p>
        </p:txBody>
      </p:sp>
    </p:spTree>
    <p:extLst>
      <p:ext uri="{BB962C8B-B14F-4D97-AF65-F5344CB8AC3E}">
        <p14:creationId xmlns:p14="http://schemas.microsoft.com/office/powerpoint/2010/main" val="7288528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48263-BB34-470E-8AFB-535C1E1C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97432-2EBD-4EDD-A1AB-5858AA70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13/14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12133-BEF2-4261-81B5-573ABA30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0986E-710C-4522-911F-FFEFB72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763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6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Capstone build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8C797-5012-4AA1-9720-FDE22CC0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Build the smallest useful assistant first. Add complexity only after you can explain the failure.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2795A-E68C-44F5-A406-B9B99503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5ECFA-C637-4D7F-B7C3-ED705922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2437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Pick 3-5 real documents from your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61F14-9B18-4E85-85A0-238435A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3850E-E386-4EBA-B00D-C57A2229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1492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Write 10 questions before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B7856-20AA-4A88-BDA2-B6C5619B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E43F0-7B51-45A0-AF3E-5392E45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0547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 no-data answer, then document-grounded answer.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B6FE7-2DC1-42B7-A24E-8E25F594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246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9D308-53D8-49BB-8A97-293E5752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9602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Show sources and confidence in the UI.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9DE028-DE25-4857-BE06-E036836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15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9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D27B6-282A-424C-ACA7-C367ED1A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86575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Write down one wrong answer and why it failed.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CC5F6-2398-4B70-900F-3DA7F3BA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23C3A-1566-48A1-8681-9981DB8B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Homework file: /Users/henryokonkwo/Desktop/ejo-session-5/homework.md</a:t>
            </a:r>
          </a:p>
        </p:txBody>
      </p:sp>
    </p:spTree>
    <p:extLst>
      <p:ext uri="{BB962C8B-B14F-4D97-AF65-F5344CB8AC3E}">
        <p14:creationId xmlns:p14="http://schemas.microsoft.com/office/powerpoint/2010/main" val="12756496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FC714-125D-40B4-9869-925173CA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EJO LABS STUDENT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7612B-6550-4254-802B-2C37F7E3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514A"/>
                </a:solidFill>
                <a:latin typeface="Aptos"/>
                <a:ea typeface="Aptos"/>
                <a:cs typeface="Aptos"/>
              </a:rPr>
              <a:t>14/14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DCD1D-0094-40C1-B176-3D460412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E0C3D-8C83-4908-8D30-C5DC86AB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811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8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Presenter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2F3BF-329E-4CDA-8BF4-D854527F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000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55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Use the launcher when you do not want to remember every script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9A653-857F-4DFE-B8CB-F8A06ED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8953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9"/>
          </a:solidFill>
          <a:ln xmlns:a="http://schemas.openxmlformats.org/drawingml/2006/main" w="9525">
            <a:solidFill>
              <a:srgbClr val="EBE6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cd /Users/henryokonkwo/Desktop/ejo-session-5/code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export EJO_OFFLINE=1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python3 setup_check.py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python3 run_lesson.py quick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python3 run_lesson.py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9B238-220E-4C80-84FA-416448A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910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1">
                <a:solidFill>
                  <a:srgbClr val="0B5A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5A3C"/>
                </a:solidFill>
                <a:latin typeface="Aptos"/>
                <a:ea typeface="Aptos"/>
                <a:cs typeface="Aptos"/>
              </a:rPr>
              <a:t>Short version for class: problem -&gt; context -&gt; RAG -&gt; embeddings -&gt; JSON -&gt; streaming.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61D16-1601-47B0-9CAB-272A5BE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1318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E6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D5E13-7F41-47A8-98FF-3DF0D64F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962900"/>
            <a:ext cx="131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0">
                <a:solidFill>
                  <a:srgbClr val="55514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14A"/>
                </a:solidFill>
                <a:latin typeface="Aptos"/>
                <a:ea typeface="Aptos"/>
                <a:cs typeface="Aptos"/>
              </a:rPr>
              <a:t>Full command sheet: /Users/henryokonkwo/Desktop/ejo-session-5/talk-commands.md</a:t>
            </a:r>
          </a:p>
        </p:txBody>
      </p:sp>
    </p:spTree>
    <p:extLst>
      <p:ext uri="{BB962C8B-B14F-4D97-AF65-F5344CB8AC3E}">
        <p14:creationId xmlns:p14="http://schemas.microsoft.com/office/powerpoint/2010/main" val="741560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2026-08-11T07:26:02.9180000Z</dcterms:created>
  <dcterms:modified xsi:type="dcterms:W3CDTF">2026-08-11T07:26:02.9180000Z</dcterms:modified>
</coreProperties>
</file>